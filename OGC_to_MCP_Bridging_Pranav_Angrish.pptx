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FD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45720"/>
          </a:xfrm>
          <a:prstGeom prst="rect">
            <a:avLst/>
          </a:prstGeom>
          <a:solidFill>
            <a:srgbClr val="10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8FD75D"/>
                </a:solidFill>
                <a:latin typeface="Aptos"/>
              </a:rPr>
              <a:t>GSoC 2026  ·  52°North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649224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200" b="1">
                <a:solidFill>
                  <a:srgbClr val="EFF7F1"/>
                </a:solidFill>
                <a:latin typeface="Aptos"/>
              </a:rPr>
              <a:t>OGC to MCP
Bridging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880360"/>
            <a:ext cx="5303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A3BEB3"/>
                </a:solidFill>
                <a:latin typeface="Aptos"/>
              </a:rPr>
              <a:t>Making geospatial APIs usable through safe,
auditable natural-language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5358384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64E2C2"/>
                </a:solidFill>
                <a:latin typeface="Aptos"/>
              </a:rPr>
              <a:t>by Pranav Angrish</a:t>
            </a:r>
          </a:p>
        </p:txBody>
      </p:sp>
      <p:sp>
        <p:nvSpPr>
          <p:cNvPr id="8" name="Oval 7"/>
          <p:cNvSpPr/>
          <p:nvPr/>
        </p:nvSpPr>
        <p:spPr>
          <a:xfrm>
            <a:off x="7680960" y="1325880"/>
            <a:ext cx="1371600" cy="1371600"/>
          </a:xfrm>
          <a:prstGeom prst="ellipse">
            <a:avLst/>
          </a:prstGeom>
          <a:solidFill>
            <a:srgbClr val="8FD75D"/>
          </a:solidFill>
          <a:ln>
            <a:solidFill>
              <a:srgbClr val="8FD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696212"/>
            <a:ext cx="1371600" cy="4800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51412"/>
                </a:solidFill>
                <a:latin typeface="Aptos"/>
              </a:rPr>
              <a:t>OGC
APIs</a:t>
            </a:r>
          </a:p>
        </p:txBody>
      </p:sp>
      <p:sp>
        <p:nvSpPr>
          <p:cNvPr id="10" name="Oval 9"/>
          <p:cNvSpPr/>
          <p:nvPr/>
        </p:nvSpPr>
        <p:spPr>
          <a:xfrm>
            <a:off x="9646920" y="1325880"/>
            <a:ext cx="1371600" cy="1371600"/>
          </a:xfrm>
          <a:prstGeom prst="ellipse">
            <a:avLst/>
          </a:prstGeom>
          <a:solidFill>
            <a:srgbClr val="65AEF1"/>
          </a:solidFill>
          <a:ln>
            <a:solidFill>
              <a:srgbClr val="65A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920" y="1696212"/>
            <a:ext cx="1371600" cy="4800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51412"/>
                </a:solidFill>
                <a:latin typeface="Aptos"/>
              </a:rPr>
              <a:t>MCP</a:t>
            </a:r>
          </a:p>
        </p:txBody>
      </p:sp>
      <p:sp>
        <p:nvSpPr>
          <p:cNvPr id="12" name="Oval 11"/>
          <p:cNvSpPr/>
          <p:nvPr/>
        </p:nvSpPr>
        <p:spPr>
          <a:xfrm>
            <a:off x="8668512" y="3703320"/>
            <a:ext cx="1371600" cy="1371600"/>
          </a:xfrm>
          <a:prstGeom prst="ellipse">
            <a:avLst/>
          </a:prstGeom>
          <a:solidFill>
            <a:srgbClr val="F8C056"/>
          </a:solidFill>
          <a:ln>
            <a:solidFill>
              <a:srgbClr val="F8C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4073652"/>
            <a:ext cx="1371600" cy="4800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51412"/>
                </a:solidFill>
                <a:latin typeface="Aptos"/>
              </a:rPr>
              <a:t>AI +
Human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52560" y="2011680"/>
            <a:ext cx="566928" cy="0"/>
          </a:xfrm>
          <a:prstGeom prst="line">
            <a:avLst/>
          </a:prstGeom>
          <a:ln w="2540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555480" y="2670048"/>
            <a:ext cx="502920" cy="987552"/>
          </a:xfrm>
          <a:prstGeom prst="line">
            <a:avLst/>
          </a:prstGeom>
          <a:ln w="2540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8211312" y="2670048"/>
            <a:ext cx="429768" cy="987552"/>
          </a:xfrm>
          <a:prstGeom prst="line">
            <a:avLst/>
          </a:prstGeom>
          <a:ln w="2540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58784" y="2852928"/>
            <a:ext cx="1554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3BEB3"/>
                </a:solidFill>
                <a:latin typeface="Aptos"/>
              </a:rPr>
              <a:t>trusted bridge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56848" y="641908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3BEB3"/>
                </a:solidFill>
                <a:latin typeface="Apto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3BEB3"/>
                </a:solidFill>
                <a:latin typeface="Aptos"/>
              </a:rPr>
              <a:t>Pranav Angrish  ·  GSoC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FD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45720"/>
          </a:xfrm>
          <a:prstGeom prst="rect">
            <a:avLst/>
          </a:prstGeom>
          <a:solidFill>
            <a:srgbClr val="10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8FD75D"/>
                </a:solidFill>
                <a:latin typeface="Aptos"/>
              </a:rPr>
              <a:t>OGC API MCP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064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EFF7F1"/>
                </a:solidFill>
                <a:latin typeface="Aptos"/>
              </a:rPr>
              <a:t>The problem: one question hides a chain of expert-only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07008"/>
            <a:ext cx="10972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3BEB3"/>
                </a:solidFill>
                <a:latin typeface="Aptos"/>
              </a:rPr>
              <a:t>A normal user sees one task. An OGC API workflow exposes many coupled technical choices — and one wrong choice can invalidate the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2103120" cy="251460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74519"/>
            <a:ext cx="73152" cy="2514600"/>
          </a:xfrm>
          <a:prstGeom prst="rect">
            <a:avLst/>
          </a:prstGeom>
          <a:solidFill>
            <a:srgbClr val="8FD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171907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FF7F1"/>
                </a:solidFill>
                <a:latin typeface="Aptos"/>
              </a:rPr>
              <a:t>What a user 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04872"/>
            <a:ext cx="1719072" cy="1856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“Find suitable point data, run a spatial analysis, and show me the result on a map.”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87368"/>
            <a:ext cx="19202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8FD75D"/>
                </a:solidFill>
                <a:latin typeface="Aptos"/>
              </a:rPr>
              <a:t>one natural-language request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61488" y="3127248"/>
            <a:ext cx="484632" cy="0"/>
          </a:xfrm>
          <a:prstGeom prst="line">
            <a:avLst/>
          </a:prstGeom>
          <a:ln w="3175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16352" y="2761488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A3BEB3"/>
                </a:solidFill>
                <a:latin typeface="Aptos"/>
              </a:rPr>
              <a:t>becomes</a:t>
            </a:r>
          </a:p>
        </p:txBody>
      </p:sp>
      <p:sp>
        <p:nvSpPr>
          <p:cNvPr id="14" name="Oval 13"/>
          <p:cNvSpPr/>
          <p:nvPr/>
        </p:nvSpPr>
        <p:spPr>
          <a:xfrm>
            <a:off x="3401568" y="1783080"/>
            <a:ext cx="384048" cy="384048"/>
          </a:xfrm>
          <a:prstGeom prst="ellipse">
            <a:avLst/>
          </a:prstGeom>
          <a:solidFill>
            <a:srgbClr val="8FD75D"/>
          </a:solidFill>
          <a:ln>
            <a:solidFill>
              <a:srgbClr val="8FD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886772"/>
            <a:ext cx="384048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1412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13632" y="1728216"/>
            <a:ext cx="2743200" cy="493776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13632" y="1728216"/>
            <a:ext cx="73152" cy="493776"/>
          </a:xfrm>
          <a:prstGeom prst="rect">
            <a:avLst/>
          </a:prstGeom>
          <a:solidFill>
            <a:srgbClr val="8FD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23944" y="1892807"/>
            <a:ext cx="235915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FF7F1"/>
                </a:solidFill>
                <a:latin typeface="Aptos"/>
              </a:rPr>
              <a:t>Discover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4" y="2258568"/>
            <a:ext cx="2359152" cy="-1645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server + conformance</a:t>
            </a:r>
          </a:p>
        </p:txBody>
      </p:sp>
      <p:sp>
        <p:nvSpPr>
          <p:cNvPr id="20" name="Oval 19"/>
          <p:cNvSpPr/>
          <p:nvPr/>
        </p:nvSpPr>
        <p:spPr>
          <a:xfrm>
            <a:off x="3401568" y="2478024"/>
            <a:ext cx="384048" cy="384048"/>
          </a:xfrm>
          <a:prstGeom prst="ellipse">
            <a:avLst/>
          </a:prstGeom>
          <a:solidFill>
            <a:srgbClr val="65AEF1"/>
          </a:solidFill>
          <a:ln>
            <a:solidFill>
              <a:srgbClr val="65A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2581716"/>
            <a:ext cx="384048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1412"/>
                </a:solidFill>
                <a:latin typeface="Aptos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423160"/>
            <a:ext cx="2743200" cy="493776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13632" y="2423160"/>
            <a:ext cx="73152" cy="493776"/>
          </a:xfrm>
          <a:prstGeom prst="rect">
            <a:avLst/>
          </a:prstGeom>
          <a:solidFill>
            <a:srgbClr val="65A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23944" y="2587752"/>
            <a:ext cx="235915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FF7F1"/>
                </a:solidFill>
                <a:latin typeface="Aptos"/>
              </a:rPr>
              <a:t>Understand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23944" y="2953512"/>
            <a:ext cx="2359152" cy="-1645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collections + schema</a:t>
            </a:r>
          </a:p>
        </p:txBody>
      </p:sp>
      <p:sp>
        <p:nvSpPr>
          <p:cNvPr id="26" name="Oval 25"/>
          <p:cNvSpPr/>
          <p:nvPr/>
        </p:nvSpPr>
        <p:spPr>
          <a:xfrm>
            <a:off x="3401568" y="3172968"/>
            <a:ext cx="384048" cy="384048"/>
          </a:xfrm>
          <a:prstGeom prst="ellipse">
            <a:avLst/>
          </a:prstGeom>
          <a:solidFill>
            <a:srgbClr val="F8C056"/>
          </a:solidFill>
          <a:ln>
            <a:solidFill>
              <a:srgbClr val="F8C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1568" y="3276660"/>
            <a:ext cx="384048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1412"/>
                </a:solidFill>
                <a:latin typeface="Aptos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13632" y="3118103"/>
            <a:ext cx="2743200" cy="493776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13632" y="3118103"/>
            <a:ext cx="73152" cy="493776"/>
          </a:xfrm>
          <a:prstGeom prst="rect">
            <a:avLst/>
          </a:prstGeom>
          <a:solidFill>
            <a:srgbClr val="F8C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23944" y="3282696"/>
            <a:ext cx="235915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FF7F1"/>
                </a:solidFill>
                <a:latin typeface="Aptos"/>
              </a:rPr>
              <a:t>Query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23944" y="3648456"/>
            <a:ext cx="2359152" cy="-1645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filters + CRS + paging</a:t>
            </a:r>
          </a:p>
        </p:txBody>
      </p:sp>
      <p:sp>
        <p:nvSpPr>
          <p:cNvPr id="32" name="Oval 31"/>
          <p:cNvSpPr/>
          <p:nvPr/>
        </p:nvSpPr>
        <p:spPr>
          <a:xfrm>
            <a:off x="3401568" y="3867912"/>
            <a:ext cx="384048" cy="384048"/>
          </a:xfrm>
          <a:prstGeom prst="ellipse">
            <a:avLst/>
          </a:prstGeom>
          <a:solidFill>
            <a:srgbClr val="F57B77"/>
          </a:solidFill>
          <a:ln>
            <a:solidFill>
              <a:srgbClr val="F57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3971604"/>
            <a:ext cx="384048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1412"/>
                </a:solidFill>
                <a:latin typeface="Aptos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13632" y="3813048"/>
            <a:ext cx="2743200" cy="493776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13632" y="3813048"/>
            <a:ext cx="73152" cy="493776"/>
          </a:xfrm>
          <a:prstGeom prst="rect">
            <a:avLst/>
          </a:prstGeom>
          <a:solidFill>
            <a:srgbClr val="F57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23944" y="3977640"/>
            <a:ext cx="235915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FF7F1"/>
                </a:solidFill>
                <a:latin typeface="Aptos"/>
              </a:rPr>
              <a:t>Execute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23944" y="4343400"/>
            <a:ext cx="2359152" cy="-1645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process inputs + jobs</a:t>
            </a:r>
          </a:p>
        </p:txBody>
      </p:sp>
      <p:sp>
        <p:nvSpPr>
          <p:cNvPr id="38" name="Oval 37"/>
          <p:cNvSpPr/>
          <p:nvPr/>
        </p:nvSpPr>
        <p:spPr>
          <a:xfrm>
            <a:off x="3401568" y="4562856"/>
            <a:ext cx="384048" cy="384048"/>
          </a:xfrm>
          <a:prstGeom prst="ellipse">
            <a:avLst/>
          </a:prstGeom>
          <a:solidFill>
            <a:srgbClr val="64E2C2"/>
          </a:solidFill>
          <a:ln>
            <a:solidFill>
              <a:srgbClr val="64E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01568" y="4666548"/>
            <a:ext cx="384048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1412"/>
                </a:solidFill>
                <a:latin typeface="Aptos"/>
              </a:rPr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13632" y="4507992"/>
            <a:ext cx="2743200" cy="493776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13632" y="4507992"/>
            <a:ext cx="73152" cy="493776"/>
          </a:xfrm>
          <a:prstGeom prst="rect">
            <a:avLst/>
          </a:prstGeom>
          <a:solidFill>
            <a:srgbClr val="64E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23944" y="4672584"/>
            <a:ext cx="235915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FF7F1"/>
                </a:solidFill>
                <a:latin typeface="Aptos"/>
              </a:rPr>
              <a:t>Interpret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23944" y="5038344"/>
            <a:ext cx="2359152" cy="-1645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formats + output validity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30568" y="3127248"/>
            <a:ext cx="484632" cy="0"/>
          </a:xfrm>
          <a:prstGeom prst="line">
            <a:avLst/>
          </a:prstGeom>
          <a:ln w="31750">
            <a:solidFill>
              <a:srgbClr val="F57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830568" y="2761488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7B77"/>
                </a:solidFill>
                <a:latin typeface="Aptos"/>
              </a:rPr>
              <a:t>or risk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79792" y="1719072"/>
            <a:ext cx="3520440" cy="91440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79792" y="1719072"/>
            <a:ext cx="73152" cy="914400"/>
          </a:xfrm>
          <a:prstGeom prst="rect">
            <a:avLst/>
          </a:prstGeom>
          <a:solidFill>
            <a:srgbClr val="F57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90104" y="1883664"/>
            <a:ext cx="313639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FF7F1"/>
                </a:solidFill>
                <a:latin typeface="Aptos"/>
              </a:rPr>
              <a:t>Wrong / incomplete evidence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0104" y="2249424"/>
            <a:ext cx="31363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The answer may be based on the wrong collection, filter scope, CRS, or truncated result.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79792" y="2898648"/>
            <a:ext cx="3520440" cy="91440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79792" y="2898648"/>
            <a:ext cx="73152" cy="914400"/>
          </a:xfrm>
          <a:prstGeom prst="rect">
            <a:avLst/>
          </a:prstGeom>
          <a:solidFill>
            <a:srgbClr val="F57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90104" y="3063240"/>
            <a:ext cx="313639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FF7F1"/>
                </a:solidFill>
                <a:latin typeface="Aptos"/>
              </a:rPr>
              <a:t>Unsafe process execution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90104" y="3429000"/>
            <a:ext cx="31363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An incorrect input, remote reference, or unreviewed request can trigger an unintended operation.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79792" y="4078224"/>
            <a:ext cx="3520440" cy="91440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79792" y="4078224"/>
            <a:ext cx="73152" cy="914400"/>
          </a:xfrm>
          <a:prstGeom prst="rect">
            <a:avLst/>
          </a:prstGeom>
          <a:solidFill>
            <a:srgbClr val="F57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90104" y="4242816"/>
            <a:ext cx="313639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FF7F1"/>
                </a:solidFill>
                <a:latin typeface="Aptos"/>
              </a:rPr>
              <a:t>Output that cannot be trusted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90104" y="4608576"/>
            <a:ext cx="31363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Raw GeoJSON/GML, asynchronous jobs, and unknown formats do not automatically become a usable map.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34440" y="5559552"/>
            <a:ext cx="9601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64E2C2"/>
                </a:solidFill>
                <a:latin typeface="Aptos"/>
              </a:rPr>
              <a:t>The gap is not just convenience — it is correctness, safety, and accessibility.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56848" y="641908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3BEB3"/>
                </a:solidFill>
                <a:latin typeface="Aptos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6419088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3BEB3"/>
                </a:solidFill>
                <a:latin typeface="Aptos"/>
              </a:rPr>
              <a:t>Pranav Angrish  ·  GSoC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FD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45720"/>
          </a:xfrm>
          <a:prstGeom prst="rect">
            <a:avLst/>
          </a:prstGeom>
          <a:solidFill>
            <a:srgbClr val="10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8FD75D"/>
                </a:solidFill>
                <a:latin typeface="Aptos"/>
              </a:rPr>
              <a:t>OGC API MCP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064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EFF7F1"/>
                </a:solidFill>
                <a:latin typeface="Aptos"/>
              </a:rPr>
              <a:t>Proposed solution: turn intent into a verified OGC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07008"/>
            <a:ext cx="10972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3BEB3"/>
                </a:solidFill>
                <a:latin typeface="Aptos"/>
              </a:rPr>
              <a:t>The OGC-to-MCP bridge adds the missing decision, safety, and presentation layers between a user and fragmented geospatial APIs.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755648"/>
            <a:ext cx="2029968" cy="3310128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755648"/>
            <a:ext cx="73152" cy="3310128"/>
          </a:xfrm>
          <a:prstGeom prst="rect">
            <a:avLst/>
          </a:prstGeom>
          <a:solidFill>
            <a:srgbClr val="8FD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920240"/>
            <a:ext cx="16459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FF7F1"/>
                </a:solidFill>
                <a:latin typeface="Aptos"/>
              </a:rPr>
              <a:t>User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286000"/>
            <a:ext cx="16459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“Find suitable data, run this analysis, and show me the result.”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663440"/>
            <a:ext cx="1600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8FD75D"/>
                </a:solidFill>
                <a:latin typeface="Aptos"/>
              </a:rPr>
              <a:t>Natural language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346704"/>
            <a:ext cx="329184" cy="0"/>
          </a:xfrm>
          <a:prstGeom prst="line">
            <a:avLst/>
          </a:prstGeom>
          <a:ln w="3175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99232" y="1700784"/>
            <a:ext cx="2542032" cy="1444752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99232" y="1700784"/>
            <a:ext cx="73152" cy="1444752"/>
          </a:xfrm>
          <a:prstGeom prst="rect">
            <a:avLst/>
          </a:prstGeom>
          <a:solidFill>
            <a:srgbClr val="8FD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1865376"/>
            <a:ext cx="2157984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FF7F1"/>
                </a:solidFill>
                <a:latin typeface="Aptos"/>
              </a:rPr>
              <a:t>Discover safely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9544" y="2231136"/>
            <a:ext cx="2157984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Uses only registered servers; reads conformance and capabilities.</a:t>
            </a:r>
          </a:p>
        </p:txBody>
      </p:sp>
      <p:sp>
        <p:nvSpPr>
          <p:cNvPr id="17" name="Oval 16"/>
          <p:cNvSpPr/>
          <p:nvPr/>
        </p:nvSpPr>
        <p:spPr>
          <a:xfrm>
            <a:off x="5166360" y="1545336"/>
            <a:ext cx="411480" cy="411480"/>
          </a:xfrm>
          <a:prstGeom prst="ellipse">
            <a:avLst/>
          </a:prstGeom>
          <a:solidFill>
            <a:srgbClr val="8FD75D"/>
          </a:solidFill>
          <a:ln>
            <a:solidFill>
              <a:srgbClr val="8FD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1656435"/>
            <a:ext cx="411480" cy="1440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1412"/>
                </a:solidFill>
                <a:latin typeface="Aptos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88152" y="1700784"/>
            <a:ext cx="2542032" cy="1444752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88152" y="1700784"/>
            <a:ext cx="73152" cy="1444752"/>
          </a:xfrm>
          <a:prstGeom prst="rect">
            <a:avLst/>
          </a:prstGeom>
          <a:solidFill>
            <a:srgbClr val="65A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8464" y="1865376"/>
            <a:ext cx="2157984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FF7F1"/>
                </a:solidFill>
                <a:latin typeface="Aptos"/>
              </a:rPr>
              <a:t>Build the right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8464" y="2231136"/>
            <a:ext cx="2157984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Inspects collections and schemas; validates filters, scope, CRS, and paging.</a:t>
            </a:r>
          </a:p>
        </p:txBody>
      </p:sp>
      <p:sp>
        <p:nvSpPr>
          <p:cNvPr id="23" name="Oval 22"/>
          <p:cNvSpPr/>
          <p:nvPr/>
        </p:nvSpPr>
        <p:spPr>
          <a:xfrm>
            <a:off x="7955279" y="1545336"/>
            <a:ext cx="411480" cy="411480"/>
          </a:xfrm>
          <a:prstGeom prst="ellipse">
            <a:avLst/>
          </a:prstGeom>
          <a:solidFill>
            <a:srgbClr val="65AEF1"/>
          </a:solidFill>
          <a:ln>
            <a:solidFill>
              <a:srgbClr val="65A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1656435"/>
            <a:ext cx="411480" cy="1440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1412"/>
                </a:solidFill>
                <a:latin typeface="Aptos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77072" y="1700784"/>
            <a:ext cx="2542032" cy="1444752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77072" y="1700784"/>
            <a:ext cx="73152" cy="1444752"/>
          </a:xfrm>
          <a:prstGeom prst="rect">
            <a:avLst/>
          </a:prstGeom>
          <a:solidFill>
            <a:srgbClr val="F8C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87384" y="1865376"/>
            <a:ext cx="2157984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FF7F1"/>
                </a:solidFill>
                <a:latin typeface="Aptos"/>
              </a:rPr>
              <a:t>Create a reviewable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7384" y="2231136"/>
            <a:ext cx="2157984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Constructs one exact process request; validates input schema and sources.</a:t>
            </a:r>
          </a:p>
        </p:txBody>
      </p:sp>
      <p:sp>
        <p:nvSpPr>
          <p:cNvPr id="29" name="Oval 28"/>
          <p:cNvSpPr/>
          <p:nvPr/>
        </p:nvSpPr>
        <p:spPr>
          <a:xfrm>
            <a:off x="10744200" y="1545336"/>
            <a:ext cx="411480" cy="411480"/>
          </a:xfrm>
          <a:prstGeom prst="ellipse">
            <a:avLst/>
          </a:prstGeom>
          <a:solidFill>
            <a:srgbClr val="F8C056"/>
          </a:solidFill>
          <a:ln>
            <a:solidFill>
              <a:srgbClr val="F8C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44200" y="1656435"/>
            <a:ext cx="411480" cy="1440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1412"/>
                </a:solidFill>
                <a:latin typeface="Aptos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77072" y="3602736"/>
            <a:ext cx="2542032" cy="1444752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77072" y="3602736"/>
            <a:ext cx="73152" cy="1444752"/>
          </a:xfrm>
          <a:prstGeom prst="rect">
            <a:avLst/>
          </a:prstGeom>
          <a:solidFill>
            <a:srgbClr val="F57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87384" y="3767328"/>
            <a:ext cx="2157984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FF7F1"/>
                </a:solidFill>
                <a:latin typeface="Aptos"/>
              </a:rPr>
              <a:t>Require human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87384" y="4133087"/>
            <a:ext cx="2157984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Shows the exact request and fingerprint before any state-changing execution.</a:t>
            </a:r>
          </a:p>
        </p:txBody>
      </p:sp>
      <p:sp>
        <p:nvSpPr>
          <p:cNvPr id="35" name="Oval 34"/>
          <p:cNvSpPr/>
          <p:nvPr/>
        </p:nvSpPr>
        <p:spPr>
          <a:xfrm>
            <a:off x="10744200" y="3447288"/>
            <a:ext cx="411480" cy="411480"/>
          </a:xfrm>
          <a:prstGeom prst="ellipse">
            <a:avLst/>
          </a:prstGeom>
          <a:solidFill>
            <a:srgbClr val="F57B77"/>
          </a:solidFill>
          <a:ln>
            <a:solidFill>
              <a:srgbClr val="F57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44200" y="3558387"/>
            <a:ext cx="411480" cy="1440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1412"/>
                </a:solidFill>
                <a:latin typeface="Aptos"/>
              </a:rPr>
              <a:t>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88152" y="3602736"/>
            <a:ext cx="2542032" cy="1444752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88152" y="3602736"/>
            <a:ext cx="73152" cy="1444752"/>
          </a:xfrm>
          <a:prstGeom prst="rect">
            <a:avLst/>
          </a:prstGeom>
          <a:solidFill>
            <a:srgbClr val="64E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98464" y="3767328"/>
            <a:ext cx="2157984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FF7F1"/>
                </a:solidFill>
                <a:latin typeface="Aptos"/>
              </a:rPr>
              <a:t>Verify and present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98464" y="4133087"/>
            <a:ext cx="2157984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Monitors jobs; normalizes outputs into trustworthy maps, tables, and downloads.</a:t>
            </a:r>
          </a:p>
        </p:txBody>
      </p:sp>
      <p:sp>
        <p:nvSpPr>
          <p:cNvPr id="41" name="Oval 40"/>
          <p:cNvSpPr/>
          <p:nvPr/>
        </p:nvSpPr>
        <p:spPr>
          <a:xfrm>
            <a:off x="7955279" y="3447288"/>
            <a:ext cx="411480" cy="411480"/>
          </a:xfrm>
          <a:prstGeom prst="ellipse">
            <a:avLst/>
          </a:prstGeom>
          <a:solidFill>
            <a:srgbClr val="64E2C2"/>
          </a:solidFill>
          <a:ln>
            <a:solidFill>
              <a:srgbClr val="64E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79" y="3558387"/>
            <a:ext cx="411480" cy="1440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51412"/>
                </a:solidFill>
                <a:latin typeface="Aptos"/>
              </a:rPr>
              <a:t>5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577840" y="2423160"/>
            <a:ext cx="182880" cy="0"/>
          </a:xfrm>
          <a:prstGeom prst="line">
            <a:avLst/>
          </a:prstGeom>
          <a:ln w="2159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66760" y="2423160"/>
            <a:ext cx="182880" cy="0"/>
          </a:xfrm>
          <a:prstGeom prst="line">
            <a:avLst/>
          </a:prstGeom>
          <a:ln w="2159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848088" y="3172968"/>
            <a:ext cx="0" cy="393192"/>
          </a:xfrm>
          <a:prstGeom prst="line">
            <a:avLst/>
          </a:prstGeom>
          <a:ln w="2159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8366760" y="4325112"/>
            <a:ext cx="182880" cy="0"/>
          </a:xfrm>
          <a:prstGeom prst="line">
            <a:avLst/>
          </a:prstGeom>
          <a:ln w="2159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2999232" y="5532120"/>
            <a:ext cx="8110727" cy="50292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99232" y="5532120"/>
            <a:ext cx="73152" cy="502920"/>
          </a:xfrm>
          <a:prstGeom prst="rect">
            <a:avLst/>
          </a:prstGeom>
          <a:solidFill>
            <a:srgbClr val="64E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9544" y="5696712"/>
            <a:ext cx="7726679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FF7F1"/>
                </a:solidFill>
                <a:latin typeface="Aptos"/>
              </a:rPr>
              <a:t>What the user receives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9544" y="6062472"/>
            <a:ext cx="7726679" cy="-1554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An auditable answer: validated evidence + exact approved execution + verified output artifact.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56848" y="641908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3BEB3"/>
                </a:solidFill>
                <a:latin typeface="Apto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19088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3BEB3"/>
                </a:solidFill>
                <a:latin typeface="Aptos"/>
              </a:rPr>
              <a:t>Pranav Angrish  ·  GSoC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FD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45720"/>
          </a:xfrm>
          <a:prstGeom prst="rect">
            <a:avLst/>
          </a:prstGeom>
          <a:solidFill>
            <a:srgbClr val="10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8FD75D"/>
                </a:solidFill>
                <a:latin typeface="Aptos"/>
              </a:rPr>
              <a:t>OGC API MCP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064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EFF7F1"/>
                </a:solidFill>
                <a:latin typeface="Aptos"/>
              </a:rPr>
              <a:t>How one request becomes a verified geospatial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0700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A3BEB3"/>
                </a:solidFill>
                <a:latin typeface="Aptos"/>
              </a:rPr>
              <a:t>Three layers have distinct responsibilities: understand the user, control the workflow, and safely work with OGC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3352" y="1682496"/>
            <a:ext cx="10040112" cy="91440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1682496"/>
            <a:ext cx="960120" cy="914400"/>
          </a:xfrm>
          <a:prstGeom prst="roundRect">
            <a:avLst/>
          </a:prstGeom>
          <a:solidFill>
            <a:srgbClr val="8FD75D"/>
          </a:solidFill>
          <a:ln>
            <a:solidFill>
              <a:srgbClr val="8FD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965960"/>
            <a:ext cx="8503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051412"/>
                </a:solidFill>
                <a:latin typeface="Aptos"/>
              </a:rPr>
              <a:t>1  CONVERSATION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56231" y="1865376"/>
            <a:ext cx="2331720" cy="54864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56231" y="1865376"/>
            <a:ext cx="54864" cy="548640"/>
          </a:xfrm>
          <a:prstGeom prst="rect">
            <a:avLst/>
          </a:prstGeom>
          <a:solidFill>
            <a:srgbClr val="8FD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3391" y="1947672"/>
            <a:ext cx="2084831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EFF7F1"/>
                </a:solidFill>
                <a:latin typeface="Aptos"/>
              </a:rPr>
              <a:t>User + React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1" y="2176272"/>
            <a:ext cx="2084831" cy="1920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3BEB3"/>
                </a:solidFill>
                <a:latin typeface="Aptos"/>
              </a:rPr>
              <a:t>Ask a question · review an exact plan · receive maps and 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0288" y="1865376"/>
            <a:ext cx="2331720" cy="54864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90288" y="1865376"/>
            <a:ext cx="54864" cy="548640"/>
          </a:xfrm>
          <a:prstGeom prst="rect">
            <a:avLst/>
          </a:prstGeom>
          <a:solidFill>
            <a:srgbClr val="65A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1947672"/>
            <a:ext cx="2084831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EFF7F1"/>
                </a:solidFill>
                <a:latin typeface="Aptos"/>
              </a:rPr>
              <a:t>Gemini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176272"/>
            <a:ext cx="2084831" cy="1920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3BEB3"/>
                </a:solidFill>
                <a:latin typeface="Aptos"/>
              </a:rPr>
              <a:t>Turns intent into a small set of proposed MCP tool calls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865376"/>
            <a:ext cx="2743200" cy="54864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865376"/>
            <a:ext cx="54864" cy="548640"/>
          </a:xfrm>
          <a:prstGeom prst="rect">
            <a:avLst/>
          </a:prstGeom>
          <a:solidFill>
            <a:srgbClr val="64E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947672"/>
            <a:ext cx="24963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EFF7F1"/>
                </a:solidFill>
                <a:latin typeface="Aptos"/>
              </a:rPr>
              <a:t>What comes 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176272"/>
            <a:ext cx="2496312" cy="1920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3BEB3"/>
                </a:solidFill>
                <a:latin typeface="Aptos"/>
              </a:rPr>
              <a:t>Answer · activity timeline · approval request · verified visualization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33672" y="2139696"/>
            <a:ext cx="310896" cy="0"/>
          </a:xfrm>
          <a:prstGeom prst="line">
            <a:avLst/>
          </a:prstGeom>
          <a:ln w="25400">
            <a:solidFill>
              <a:srgbClr val="8FD7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76872" y="2139696"/>
            <a:ext cx="1179576" cy="0"/>
          </a:xfrm>
          <a:prstGeom prst="line">
            <a:avLst/>
          </a:prstGeom>
          <a:ln w="2032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33672" y="2359152"/>
            <a:ext cx="31089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A3BEB3"/>
                </a:solidFill>
                <a:latin typeface="Aptos"/>
              </a:rPr>
              <a:t>intent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73352" y="2889504"/>
            <a:ext cx="10040112" cy="1152144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5488" y="2889504"/>
            <a:ext cx="960120" cy="1152144"/>
          </a:xfrm>
          <a:prstGeom prst="roundRect">
            <a:avLst/>
          </a:prstGeom>
          <a:solidFill>
            <a:srgbClr val="65AEF1"/>
          </a:solidFill>
          <a:ln>
            <a:solidFill>
              <a:srgbClr val="65A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246668"/>
            <a:ext cx="850392" cy="3456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051412"/>
                </a:solidFill>
                <a:latin typeface="Aptos"/>
              </a:rPr>
              <a:t>2  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56231" y="3072384"/>
            <a:ext cx="2743200" cy="786384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56231" y="3072384"/>
            <a:ext cx="54864" cy="786384"/>
          </a:xfrm>
          <a:prstGeom prst="rect">
            <a:avLst/>
          </a:prstGeom>
          <a:solidFill>
            <a:srgbClr val="65A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93391" y="3154679"/>
            <a:ext cx="24963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EFF7F1"/>
                </a:solidFill>
                <a:latin typeface="Aptos"/>
              </a:rPr>
              <a:t>Node 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93391" y="3383279"/>
            <a:ext cx="249631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A3BEB3"/>
                </a:solidFill>
                <a:latin typeface="Aptos"/>
              </a:rPr>
              <a:t>Executes allowed tools · streams SSE updates
Monitors asynchronous jobs · scopes session artifacts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56048" y="3072384"/>
            <a:ext cx="2743200" cy="786384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56048" y="3072384"/>
            <a:ext cx="54864" cy="786384"/>
          </a:xfrm>
          <a:prstGeom prst="rect">
            <a:avLst/>
          </a:prstGeom>
          <a:solidFill>
            <a:srgbClr val="F57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93208" y="3154679"/>
            <a:ext cx="24963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EFF7F1"/>
                </a:solidFill>
                <a:latin typeface="Aptos"/>
              </a:rPr>
              <a:t>Human-in-the-loop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3208" y="3383279"/>
            <a:ext cx="249631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A3BEB3"/>
                </a:solidFill>
                <a:latin typeface="Aptos"/>
              </a:rPr>
              <a:t>The LLM cannot confirm execution.
A user reviews a fingerprint-bound exact request.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5864" y="3072384"/>
            <a:ext cx="2926080" cy="786384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55864" y="3072384"/>
            <a:ext cx="54864" cy="786384"/>
          </a:xfrm>
          <a:prstGeom prst="rect">
            <a:avLst/>
          </a:prstGeom>
          <a:solidFill>
            <a:srgbClr val="F8C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3024" y="3154679"/>
            <a:ext cx="26791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EFF7F1"/>
                </a:solidFill>
                <a:latin typeface="Aptos"/>
              </a:rPr>
              <a:t>MCP protocol boundary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4" y="3383279"/>
            <a:ext cx="267919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A3BEB3"/>
                </a:solidFill>
                <a:latin typeface="Aptos"/>
              </a:rPr>
              <a:t>Structured ogc_* tool calls over stdio
with stable contracts and result envelopes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742432" y="2596896"/>
            <a:ext cx="0" cy="438912"/>
          </a:xfrm>
          <a:prstGeom prst="line">
            <a:avLst/>
          </a:prstGeom>
          <a:ln w="25400">
            <a:solidFill>
              <a:srgbClr val="65A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25312" y="2706624"/>
            <a:ext cx="137160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EB3"/>
                </a:solidFill>
                <a:latin typeface="Aptos"/>
              </a:rPr>
              <a:t>only permitted tool requests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73352" y="4370832"/>
            <a:ext cx="10040112" cy="1115568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5488" y="4370832"/>
            <a:ext cx="960120" cy="1115568"/>
          </a:xfrm>
          <a:prstGeom prst="roundRect">
            <a:avLst/>
          </a:prstGeom>
          <a:solidFill>
            <a:srgbClr val="F8C056"/>
          </a:solidFill>
          <a:ln>
            <a:solidFill>
              <a:srgbClr val="F8C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4716658"/>
            <a:ext cx="850392" cy="334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051412"/>
                </a:solidFill>
                <a:latin typeface="Aptos"/>
              </a:rPr>
              <a:t>3  DATA + GOVERNANCE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56231" y="4544568"/>
            <a:ext cx="2267712" cy="749808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56231" y="4544568"/>
            <a:ext cx="54864" cy="749808"/>
          </a:xfrm>
          <a:prstGeom prst="rect">
            <a:avLst/>
          </a:prstGeom>
          <a:solidFill>
            <a:srgbClr val="F8C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93391" y="4626864"/>
            <a:ext cx="202082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1">
                <a:solidFill>
                  <a:srgbClr val="EFF7F1"/>
                </a:solidFill>
                <a:latin typeface="Aptos"/>
              </a:rPr>
              <a:t>OGC MCP proxy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3391" y="4855464"/>
            <a:ext cx="2020824" cy="3931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3BEB3"/>
                </a:solidFill>
                <a:latin typeface="Aptos"/>
              </a:rPr>
              <a:t>Knows the OGC standards and exposes one predictable tool surface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07408" y="4544568"/>
            <a:ext cx="2267712" cy="749808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07408" y="4544568"/>
            <a:ext cx="54864" cy="749808"/>
          </a:xfrm>
          <a:prstGeom prst="rect">
            <a:avLst/>
          </a:prstGeom>
          <a:solidFill>
            <a:srgbClr val="F57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44568" y="4626864"/>
            <a:ext cx="202082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1">
                <a:solidFill>
                  <a:srgbClr val="EFF7F1"/>
                </a:solidFill>
                <a:latin typeface="Aptos"/>
              </a:rPr>
              <a:t>Validation +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44568" y="4855464"/>
            <a:ext cx="2020824" cy="3931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3BEB3"/>
                </a:solidFill>
                <a:latin typeface="Aptos"/>
              </a:rPr>
              <a:t>Registered servers · schema checks · auth injection · bounded HTTP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58584" y="4544568"/>
            <a:ext cx="2267712" cy="749808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58584" y="4544568"/>
            <a:ext cx="54864" cy="749808"/>
          </a:xfrm>
          <a:prstGeom prst="rect">
            <a:avLst/>
          </a:prstGeom>
          <a:solidFill>
            <a:srgbClr val="65A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95744" y="4626864"/>
            <a:ext cx="202082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1">
                <a:solidFill>
                  <a:srgbClr val="EFF7F1"/>
                </a:solidFill>
                <a:latin typeface="Aptos"/>
              </a:rPr>
              <a:t>Large-data boundary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95744" y="4855464"/>
            <a:ext cx="2020824" cy="3931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A3BEB3"/>
                </a:solidFill>
                <a:latin typeface="Aptos"/>
              </a:rPr>
              <a:t>Raw GeoJSON/GML stays in proxy memory behind opaque handles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09760" y="4544568"/>
            <a:ext cx="1472184" cy="749808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09760" y="4544568"/>
            <a:ext cx="54864" cy="749808"/>
          </a:xfrm>
          <a:prstGeom prst="rect">
            <a:avLst/>
          </a:prstGeom>
          <a:solidFill>
            <a:srgbClr val="64E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46920" y="4626864"/>
            <a:ext cx="12252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EFF7F1"/>
                </a:solidFill>
                <a:latin typeface="Aptos"/>
              </a:rPr>
              <a:t>Artifacts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46920" y="4855464"/>
            <a:ext cx="1225296" cy="3931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EB3"/>
                </a:solidFill>
                <a:latin typeface="Aptos"/>
              </a:rPr>
              <a:t>Verify
map/table
download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518904" y="3831336"/>
            <a:ext cx="0" cy="676656"/>
          </a:xfrm>
          <a:prstGeom prst="line">
            <a:avLst/>
          </a:prstGeom>
          <a:ln w="25400">
            <a:solidFill>
              <a:srgbClr val="F8C0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646920" y="4096512"/>
            <a:ext cx="3200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3BEB3"/>
                </a:solidFill>
                <a:latin typeface="Aptos"/>
              </a:rPr>
              <a:t>MCP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673352" y="5650992"/>
            <a:ext cx="10040112" cy="484632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75488" y="5650992"/>
            <a:ext cx="960120" cy="484632"/>
          </a:xfrm>
          <a:prstGeom prst="roundRect">
            <a:avLst/>
          </a:prstGeom>
          <a:solidFill>
            <a:srgbClr val="64E2C2"/>
          </a:solidFill>
          <a:ln>
            <a:solidFill>
              <a:srgbClr val="64E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" y="5801227"/>
            <a:ext cx="850392" cy="1453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051412"/>
                </a:solidFill>
                <a:latin typeface="Aptos"/>
              </a:rPr>
              <a:t>OGC API LAYER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20240" y="5779008"/>
            <a:ext cx="9235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EFF7F1"/>
                </a:solidFill>
                <a:latin typeface="Aptos"/>
              </a:rPr>
              <a:t>Operator-approved OGC servers:   Common   ·   Features   ·   Records   ·   Processes   ·   Jobs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3232" y="6181344"/>
            <a:ext cx="1426464" cy="18288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3232" y="6181344"/>
            <a:ext cx="73152" cy="182880"/>
          </a:xfrm>
          <a:prstGeom prst="rect">
            <a:avLst/>
          </a:prstGeom>
          <a:solidFill>
            <a:srgbClr val="F57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3544" y="6345936"/>
            <a:ext cx="1042416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FF7F1"/>
                </a:solidFill>
                <a:latin typeface="Aptos"/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8952" y="6208776"/>
            <a:ext cx="1335024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" b="1">
                <a:solidFill>
                  <a:srgbClr val="EFF7F1"/>
                </a:solidFill>
                <a:latin typeface="Aptos"/>
              </a:rPr>
              <a:t>Human approves execution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979408" y="6181344"/>
            <a:ext cx="2377440" cy="18288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79408" y="6181344"/>
            <a:ext cx="73152" cy="182880"/>
          </a:xfrm>
          <a:prstGeom prst="rect">
            <a:avLst/>
          </a:prstGeom>
          <a:solidFill>
            <a:srgbClr val="65A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89720" y="6345936"/>
            <a:ext cx="199339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FF7F1"/>
                </a:solidFill>
                <a:latin typeface="Aptos"/>
              </a:rPr>
              <a:t/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25128" y="6208776"/>
            <a:ext cx="228600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" b="1">
                <a:solidFill>
                  <a:srgbClr val="EFF7F1"/>
                </a:solidFill>
                <a:latin typeface="Aptos"/>
              </a:rPr>
              <a:t>Raw geometry never enters the LLM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356848" y="641908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3BEB3"/>
                </a:solidFill>
                <a:latin typeface="Aptos"/>
              </a:rPr>
              <a:t>04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6419088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3BEB3"/>
                </a:solidFill>
                <a:latin typeface="Aptos"/>
              </a:rPr>
              <a:t>Pranav Angrish  ·  GSoC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FD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45720"/>
          </a:xfrm>
          <a:prstGeom prst="rect">
            <a:avLst/>
          </a:prstGeom>
          <a:solidFill>
            <a:srgbClr val="10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8FD75D"/>
                </a:solidFill>
                <a:latin typeface="Aptos"/>
              </a:rPr>
              <a:t>OGC API MCP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064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EFF7F1"/>
                </a:solidFill>
                <a:latin typeface="Aptos"/>
              </a:rPr>
              <a:t>One MCP tool surface over multiple OGC API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07008"/>
            <a:ext cx="10515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3BEB3"/>
                </a:solidFill>
                <a:latin typeface="Aptos"/>
              </a:rPr>
              <a:t>Users do not need to memorize endpoints; the bridge selects the correct standard operation.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920240"/>
            <a:ext cx="1993392" cy="219456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920240"/>
            <a:ext cx="73152" cy="2194560"/>
          </a:xfrm>
          <a:prstGeom prst="rect">
            <a:avLst/>
          </a:prstGeom>
          <a:solidFill>
            <a:srgbClr val="8FD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084832"/>
            <a:ext cx="1609344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FF7F1"/>
                </a:solidFill>
                <a:latin typeface="Aptos"/>
              </a:rPr>
              <a:t>Common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450592"/>
            <a:ext cx="1609344" cy="1536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landing · conformance
collections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7673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8FD75D"/>
                </a:solidFill>
                <a:latin typeface="Aptos"/>
              </a:rPr>
              <a:t>ogc_common_*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43784" y="1920240"/>
            <a:ext cx="1993392" cy="219456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43784" y="1920240"/>
            <a:ext cx="73152" cy="2194560"/>
          </a:xfrm>
          <a:prstGeom prst="rect">
            <a:avLst/>
          </a:prstGeom>
          <a:solidFill>
            <a:srgbClr val="65A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54096" y="2084832"/>
            <a:ext cx="1609344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FF7F1"/>
                </a:solidFill>
                <a:latin typeface="Aptos"/>
              </a:rPr>
              <a:t>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2450592"/>
            <a:ext cx="1609344" cy="1536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collections · items
queryables ·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7673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5AEF1"/>
                </a:solidFill>
                <a:latin typeface="Aptos"/>
              </a:rPr>
              <a:t>ogc_features_*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7216" y="1920240"/>
            <a:ext cx="1993392" cy="219456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57216" y="1920240"/>
            <a:ext cx="73152" cy="2194560"/>
          </a:xfrm>
          <a:prstGeom prst="rect">
            <a:avLst/>
          </a:prstGeom>
          <a:solidFill>
            <a:srgbClr val="F8C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8" y="2084832"/>
            <a:ext cx="1609344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FF7F1"/>
                </a:solidFill>
                <a:latin typeface="Aptos"/>
              </a:rPr>
              <a:t>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2450592"/>
            <a:ext cx="1609344" cy="1536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catalogue search
metadata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7673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C056"/>
                </a:solidFill>
                <a:latin typeface="Aptos"/>
              </a:rPr>
              <a:t>ogc_records_*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0648" y="1920240"/>
            <a:ext cx="1993392" cy="219456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70648" y="1920240"/>
            <a:ext cx="73152" cy="2194560"/>
          </a:xfrm>
          <a:prstGeom prst="rect">
            <a:avLst/>
          </a:prstGeom>
          <a:solidFill>
            <a:srgbClr val="F57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2084832"/>
            <a:ext cx="1609344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FF7F1"/>
                </a:solidFill>
                <a:latin typeface="Aptos"/>
              </a:rPr>
              <a:t>Processes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450592"/>
            <a:ext cx="1609344" cy="1536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process schemas
execution plans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7673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7B77"/>
                </a:solidFill>
                <a:latin typeface="Aptos"/>
              </a:rPr>
              <a:t>ogc_processes_*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1920240"/>
            <a:ext cx="1993392" cy="219456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1920240"/>
            <a:ext cx="73152" cy="2194560"/>
          </a:xfrm>
          <a:prstGeom prst="rect">
            <a:avLst/>
          </a:prstGeom>
          <a:solidFill>
            <a:srgbClr val="64E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94392" y="2084832"/>
            <a:ext cx="1609344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FF7F1"/>
                </a:solidFill>
                <a:latin typeface="Aptos"/>
              </a:rPr>
              <a:t>Jobs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4392" y="2450592"/>
            <a:ext cx="1609344" cy="1536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status · results
async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376732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4E2C2"/>
                </a:solidFill>
                <a:latin typeface="Aptos"/>
              </a:rPr>
              <a:t>ogc_jobs_*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800600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8FD75D"/>
                </a:solidFill>
                <a:latin typeface="Aptos"/>
              </a:rPr>
              <a:t>Stable MCP tools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587752" y="4919472"/>
            <a:ext cx="6967728" cy="0"/>
          </a:xfrm>
          <a:prstGeom prst="line">
            <a:avLst/>
          </a:prstGeom>
          <a:ln w="2540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29000" y="5193792"/>
            <a:ext cx="5394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FF7F1"/>
                </a:solidFill>
                <a:latin typeface="Aptos"/>
              </a:rPr>
              <a:t>Standards-aware routing, validation, and fallback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56848" y="641908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3BEB3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19088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3BEB3"/>
                </a:solidFill>
                <a:latin typeface="Aptos"/>
              </a:rPr>
              <a:t>Pranav Angrish  ·  GSoC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FD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45720"/>
          </a:xfrm>
          <a:prstGeom prst="rect">
            <a:avLst/>
          </a:prstGeom>
          <a:solidFill>
            <a:srgbClr val="10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8FD75D"/>
                </a:solidFill>
                <a:latin typeface="Aptos"/>
              </a:rPr>
              <a:t>OGC API MCP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064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EFF7F1"/>
                </a:solidFill>
                <a:latin typeface="Aptos"/>
              </a:rPr>
              <a:t>Making agentic geospatial workflows deterministic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07008"/>
            <a:ext cx="10424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3BEB3"/>
                </a:solidFill>
                <a:latin typeface="Aptos"/>
              </a:rPr>
              <a:t>The model can suggest actions; deterministic services decide what is allowed and what is true.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31720"/>
            <a:ext cx="1234440" cy="1234440"/>
          </a:xfrm>
          <a:prstGeom prst="ellipse">
            <a:avLst/>
          </a:prstGeom>
          <a:solidFill>
            <a:srgbClr val="F8C056"/>
          </a:solidFill>
          <a:ln>
            <a:solidFill>
              <a:srgbClr val="F8C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65018"/>
            <a:ext cx="1234440" cy="432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51412"/>
                </a:solidFill>
                <a:latin typeface="Aptos"/>
              </a:rPr>
              <a:t>LLM
intent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2953512"/>
            <a:ext cx="749808" cy="0"/>
          </a:xfrm>
          <a:prstGeom prst="line">
            <a:avLst/>
          </a:prstGeom>
          <a:ln w="2540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874519"/>
            <a:ext cx="2103120" cy="214884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1874519"/>
            <a:ext cx="73152" cy="2148840"/>
          </a:xfrm>
          <a:prstGeom prst="rect">
            <a:avLst/>
          </a:prstGeom>
          <a:solidFill>
            <a:srgbClr val="F57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039112"/>
            <a:ext cx="171907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FF7F1"/>
                </a:solidFill>
                <a:latin typeface="Aptos"/>
              </a:rPr>
              <a:t>Policy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404872"/>
            <a:ext cx="1719072" cy="1490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Only registered servers
Only valid tool calls
No direct execution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56048" y="2953512"/>
            <a:ext cx="749808" cy="0"/>
          </a:xfrm>
          <a:prstGeom prst="line">
            <a:avLst/>
          </a:prstGeom>
          <a:ln w="2540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733288" y="1874519"/>
            <a:ext cx="2103120" cy="214884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33288" y="1874519"/>
            <a:ext cx="73152" cy="2148840"/>
          </a:xfrm>
          <a:prstGeom prst="rect">
            <a:avLst/>
          </a:prstGeom>
          <a:solidFill>
            <a:srgbClr val="65A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039112"/>
            <a:ext cx="171907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FF7F1"/>
                </a:solidFill>
                <a:latin typeface="Aptos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404872"/>
            <a:ext cx="1719072" cy="1490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Schema checks
Capability checks
Bounded requests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00416" y="2953512"/>
            <a:ext cx="749808" cy="0"/>
          </a:xfrm>
          <a:prstGeom prst="line">
            <a:avLst/>
          </a:prstGeom>
          <a:ln w="2540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677656" y="1874519"/>
            <a:ext cx="2423160" cy="214884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77656" y="1874519"/>
            <a:ext cx="73152" cy="2148840"/>
          </a:xfrm>
          <a:prstGeom prst="rect">
            <a:avLst/>
          </a:prstGeom>
          <a:solidFill>
            <a:srgbClr val="8FD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8" y="2039112"/>
            <a:ext cx="203911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FF7F1"/>
                </a:solidFill>
                <a:latin typeface="Aptos"/>
              </a:rPr>
              <a:t>Human checkpoint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2404872"/>
            <a:ext cx="2039112" cy="1490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Exact request
Fingerprint
Explicit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4E2C2"/>
                </a:solidFill>
                <a:latin typeface="Aptos"/>
              </a:rPr>
              <a:t>Deterministic lifecycle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06040" y="4892040"/>
            <a:ext cx="7772400" cy="0"/>
          </a:xfrm>
          <a:prstGeom prst="line">
            <a:avLst/>
          </a:prstGeom>
          <a:ln w="3175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834640" y="4590288"/>
            <a:ext cx="530352" cy="530352"/>
          </a:xfrm>
          <a:prstGeom prst="ellipse">
            <a:avLst/>
          </a:prstGeom>
          <a:solidFill>
            <a:srgbClr val="64E2C2"/>
          </a:solidFill>
          <a:ln>
            <a:solidFill>
              <a:srgbClr val="64E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4733483"/>
            <a:ext cx="530352" cy="185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" b="1">
                <a:solidFill>
                  <a:srgbClr val="051412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5257800"/>
            <a:ext cx="13716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3BEB3"/>
                </a:solidFill>
                <a:latin typeface="Aptos"/>
              </a:rPr>
              <a:t>discover</a:t>
            </a:r>
          </a:p>
        </p:txBody>
      </p:sp>
      <p:sp>
        <p:nvSpPr>
          <p:cNvPr id="29" name="Oval 28"/>
          <p:cNvSpPr/>
          <p:nvPr/>
        </p:nvSpPr>
        <p:spPr>
          <a:xfrm>
            <a:off x="4709160" y="4590288"/>
            <a:ext cx="530352" cy="530352"/>
          </a:xfrm>
          <a:prstGeom prst="ellipse">
            <a:avLst/>
          </a:prstGeom>
          <a:solidFill>
            <a:srgbClr val="64E2C2"/>
          </a:solidFill>
          <a:ln>
            <a:solidFill>
              <a:srgbClr val="64E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4733483"/>
            <a:ext cx="530352" cy="185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" b="1">
                <a:solidFill>
                  <a:srgbClr val="051412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257800"/>
            <a:ext cx="13716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3BEB3"/>
                </a:solidFill>
                <a:latin typeface="Aptos"/>
              </a:rPr>
              <a:t>plan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4590288"/>
            <a:ext cx="530352" cy="530352"/>
          </a:xfrm>
          <a:prstGeom prst="ellipse">
            <a:avLst/>
          </a:prstGeom>
          <a:solidFill>
            <a:srgbClr val="64E2C2"/>
          </a:solidFill>
          <a:ln>
            <a:solidFill>
              <a:srgbClr val="64E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733483"/>
            <a:ext cx="530352" cy="185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" b="1">
                <a:solidFill>
                  <a:srgbClr val="051412"/>
                </a:solidFill>
                <a:latin typeface="Apto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5257800"/>
            <a:ext cx="13716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3BEB3"/>
                </a:solidFill>
                <a:latin typeface="Aptos"/>
              </a:rPr>
              <a:t>confirm</a:t>
            </a:r>
          </a:p>
        </p:txBody>
      </p:sp>
      <p:sp>
        <p:nvSpPr>
          <p:cNvPr id="35" name="Oval 34"/>
          <p:cNvSpPr/>
          <p:nvPr/>
        </p:nvSpPr>
        <p:spPr>
          <a:xfrm>
            <a:off x="8458200" y="4590288"/>
            <a:ext cx="530352" cy="530352"/>
          </a:xfrm>
          <a:prstGeom prst="ellipse">
            <a:avLst/>
          </a:prstGeom>
          <a:solidFill>
            <a:srgbClr val="64E2C2"/>
          </a:solidFill>
          <a:ln>
            <a:solidFill>
              <a:srgbClr val="64E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4733483"/>
            <a:ext cx="530352" cy="185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" b="1">
                <a:solidFill>
                  <a:srgbClr val="051412"/>
                </a:solidFill>
                <a:latin typeface="Aptos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5257800"/>
            <a:ext cx="13716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3BEB3"/>
                </a:solidFill>
                <a:latin typeface="Aptos"/>
              </a:rPr>
              <a:t>execute</a:t>
            </a:r>
          </a:p>
        </p:txBody>
      </p:sp>
      <p:sp>
        <p:nvSpPr>
          <p:cNvPr id="38" name="Oval 37"/>
          <p:cNvSpPr/>
          <p:nvPr/>
        </p:nvSpPr>
        <p:spPr>
          <a:xfrm>
            <a:off x="10149840" y="4590288"/>
            <a:ext cx="530352" cy="530352"/>
          </a:xfrm>
          <a:prstGeom prst="ellipse">
            <a:avLst/>
          </a:prstGeom>
          <a:solidFill>
            <a:srgbClr val="64E2C2"/>
          </a:solidFill>
          <a:ln>
            <a:solidFill>
              <a:srgbClr val="64E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0" y="4733483"/>
            <a:ext cx="530352" cy="185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" b="1">
                <a:solidFill>
                  <a:srgbClr val="051412"/>
                </a:solidFill>
                <a:latin typeface="Aptos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5257800"/>
            <a:ext cx="13716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3BEB3"/>
                </a:solidFill>
                <a:latin typeface="Aptos"/>
              </a:rPr>
              <a:t>verify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56848" y="641908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3BEB3"/>
                </a:solidFill>
                <a:latin typeface="Aptos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19088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3BEB3"/>
                </a:solidFill>
                <a:latin typeface="Aptos"/>
              </a:rPr>
              <a:t>Pranav Angrish  ·  GSoC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FD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45720"/>
          </a:xfrm>
          <a:prstGeom prst="rect">
            <a:avLst/>
          </a:prstGeom>
          <a:solidFill>
            <a:srgbClr val="10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8FD75D"/>
                </a:solidFill>
                <a:latin typeface="Aptos"/>
              </a:rPr>
              <a:t>OGC API MCP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0642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EFF7F1"/>
                </a:solidFill>
                <a:latin typeface="Aptos"/>
              </a:rPr>
              <a:t>Keeping enormous geospatial data out of LLM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07008"/>
            <a:ext cx="10789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3BEB3"/>
                </a:solidFill>
                <a:latin typeface="Aptos"/>
              </a:rPr>
              <a:t>Raw coordinates remain in the trusted data plane; the model receives only bounded, sanitized 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194560" cy="278892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73152" cy="2788920"/>
          </a:xfrm>
          <a:prstGeom prst="rect">
            <a:avLst/>
          </a:prstGeom>
          <a:solidFill>
            <a:srgbClr val="F57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39112"/>
            <a:ext cx="181051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FF7F1"/>
                </a:solidFill>
                <a:latin typeface="Aptos"/>
              </a:rPr>
              <a:t>OGC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04872"/>
            <a:ext cx="1810512" cy="2130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Large GeoJSON / GML
Many features
Coordinate arrays
Remote references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52928" y="3246120"/>
            <a:ext cx="731520" cy="0"/>
          </a:xfrm>
          <a:prstGeom prst="line">
            <a:avLst/>
          </a:prstGeom>
          <a:ln w="2540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11880" y="1874519"/>
            <a:ext cx="2331720" cy="278892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1874519"/>
            <a:ext cx="73152" cy="2788920"/>
          </a:xfrm>
          <a:prstGeom prst="rect">
            <a:avLst/>
          </a:prstGeom>
          <a:solidFill>
            <a:srgbClr val="65A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2" y="2039112"/>
            <a:ext cx="194767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FF7F1"/>
                </a:solidFill>
                <a:latin typeface="Aptos"/>
              </a:rPr>
              <a:t>Proxy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2" y="2404872"/>
            <a:ext cx="1947672" cy="2130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Full response retained
Opaque mem_* handle
TTL-bound storage
Safe retrieval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07608" y="3246120"/>
            <a:ext cx="731520" cy="0"/>
          </a:xfrm>
          <a:prstGeom prst="line">
            <a:avLst/>
          </a:prstGeom>
          <a:ln w="2540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766560" y="1874519"/>
            <a:ext cx="2057400" cy="278892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1874519"/>
            <a:ext cx="73152" cy="2788920"/>
          </a:xfrm>
          <a:prstGeom prst="rect">
            <a:avLst/>
          </a:prstGeom>
          <a:solidFill>
            <a:srgbClr val="F8C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2039112"/>
            <a:ext cx="167335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FF7F1"/>
                </a:solidFill>
                <a:latin typeface="Aptos"/>
              </a:rPr>
              <a:t>LLM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2404872"/>
            <a:ext cx="1673352" cy="2130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Compact summary
IDs &amp; properties
No raw geometry
No instructions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0" y="5074920"/>
            <a:ext cx="0" cy="502920"/>
          </a:xfrm>
          <a:prstGeom prst="line">
            <a:avLst/>
          </a:prstGeom>
          <a:ln w="2540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57600" y="5577840"/>
            <a:ext cx="3657600" cy="502920"/>
          </a:xfrm>
          <a:prstGeom prst="roundRect">
            <a:avLst/>
          </a:prstGeom>
          <a:solidFill>
            <a:srgbClr val="0C2723"/>
          </a:solidFill>
          <a:ln>
            <a:solidFill>
              <a:srgbClr val="10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0" y="5577840"/>
            <a:ext cx="73152" cy="502920"/>
          </a:xfrm>
          <a:prstGeom prst="rect">
            <a:avLst/>
          </a:prstGeom>
          <a:solidFill>
            <a:srgbClr val="8FD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67912" y="5742431"/>
            <a:ext cx="3273552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FF7F1"/>
                </a:solidFill>
                <a:latin typeface="Aptos"/>
              </a:rPr>
              <a:t>Trusted UI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67912" y="6108192"/>
            <a:ext cx="3273552" cy="-1554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A3BEB3"/>
                </a:solidFill>
                <a:latin typeface="Aptos"/>
              </a:rPr>
              <a:t>Hydrates verified outputs → map, table, download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4919472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C056"/>
                </a:solidFill>
                <a:latin typeface="Aptos"/>
              </a:rPr>
              <a:t>Model-safe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230368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4E2C2"/>
                </a:solidFill>
                <a:latin typeface="Aptos"/>
              </a:rPr>
              <a:t>Large data never enters the conversational prompt.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56848" y="641908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3BEB3"/>
                </a:solidFill>
                <a:latin typeface="Aptos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19088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3BEB3"/>
                </a:solidFill>
                <a:latin typeface="Aptos"/>
              </a:rPr>
              <a:t>Pranav Angrish  ·  GSoC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FD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191695" cy="45720"/>
          </a:xfrm>
          <a:prstGeom prst="rect">
            <a:avLst/>
          </a:prstGeom>
          <a:solidFill>
            <a:srgbClr val="10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5943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EFF7F1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938528"/>
            <a:ext cx="4846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8FD75D"/>
                </a:solidFill>
                <a:latin typeface="Aptos"/>
              </a:rPr>
              <a:t>OGC to MCP Bridging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487168"/>
            <a:ext cx="5943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A3BEB3"/>
                </a:solidFill>
                <a:latin typeface="Aptos"/>
              </a:rPr>
              <a:t>Safe. Auditable. Conversational. Geospatial.</a:t>
            </a:r>
          </a:p>
        </p:txBody>
      </p:sp>
      <p:sp>
        <p:nvSpPr>
          <p:cNvPr id="7" name="Oval 6"/>
          <p:cNvSpPr/>
          <p:nvPr/>
        </p:nvSpPr>
        <p:spPr>
          <a:xfrm>
            <a:off x="7699248" y="1874519"/>
            <a:ext cx="1417320" cy="1417320"/>
          </a:xfrm>
          <a:prstGeom prst="ellipse">
            <a:avLst/>
          </a:prstGeom>
          <a:solidFill>
            <a:srgbClr val="8FD75D"/>
          </a:solidFill>
          <a:ln>
            <a:solidFill>
              <a:srgbClr val="8FD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9248" y="2257196"/>
            <a:ext cx="1417320" cy="49606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51412"/>
                </a:solidFill>
                <a:latin typeface="Aptos"/>
              </a:rPr>
              <a:t>OGC</a:t>
            </a:r>
          </a:p>
        </p:txBody>
      </p:sp>
      <p:sp>
        <p:nvSpPr>
          <p:cNvPr id="9" name="Oval 8"/>
          <p:cNvSpPr/>
          <p:nvPr/>
        </p:nvSpPr>
        <p:spPr>
          <a:xfrm>
            <a:off x="9674352" y="1874519"/>
            <a:ext cx="1417320" cy="1417320"/>
          </a:xfrm>
          <a:prstGeom prst="ellipse">
            <a:avLst/>
          </a:prstGeom>
          <a:solidFill>
            <a:srgbClr val="65AEF1"/>
          </a:solidFill>
          <a:ln>
            <a:solidFill>
              <a:srgbClr val="65A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74352" y="2257196"/>
            <a:ext cx="1417320" cy="49606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51412"/>
                </a:solidFill>
                <a:latin typeface="Aptos"/>
              </a:rPr>
              <a:t>MCP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25712" y="2587752"/>
            <a:ext cx="521208" cy="0"/>
          </a:xfrm>
          <a:prstGeom prst="line">
            <a:avLst/>
          </a:prstGeom>
          <a:ln w="25400">
            <a:solidFill>
              <a:srgbClr val="64E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4944" y="5239512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64E2C2"/>
                </a:solidFill>
                <a:latin typeface="Aptos"/>
              </a:rPr>
              <a:t>Pranav Angrish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5632704"/>
            <a:ext cx="3200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3BEB3"/>
                </a:solidFill>
                <a:latin typeface="Aptos"/>
              </a:rPr>
              <a:t>GSoC 2026  ·  52°North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56848" y="6419088"/>
            <a:ext cx="4114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3BEB3"/>
                </a:solidFill>
                <a:latin typeface="Aptos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A3BEB3"/>
                </a:solidFill>
                <a:latin typeface="Aptos"/>
              </a:rPr>
              <a:t>Pranav Angrish  ·  GSoC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